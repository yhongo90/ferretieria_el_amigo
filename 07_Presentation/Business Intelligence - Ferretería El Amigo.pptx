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Medium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  <p:embeddedFont>
      <p:font typeface="Lato" panose="020B0604020202020204" charset="0"/>
      <p:regular r:id="rId34"/>
      <p:bold r:id="rId35"/>
      <p:italic r:id="rId36"/>
      <p:boldItalic r:id="rId37"/>
    </p:embeddedFont>
    <p:embeddedFont>
      <p:font typeface="Montserrat" panose="020B0604020202020204" charset="0"/>
      <p:regular r:id="rId38"/>
      <p:bold r:id="rId39"/>
      <p:italic r:id="rId40"/>
      <p:boldItalic r:id="rId41"/>
    </p:embeddedFont>
    <p:embeddedFont>
      <p:font typeface="Poppins" panose="020B0604020202020204" charset="0"/>
      <p:regular r:id="rId42"/>
      <p:bold r:id="rId43"/>
      <p:italic r:id="rId44"/>
      <p:boldItalic r:id="rId45"/>
    </p:embeddedFont>
    <p:embeddedFont>
      <p:font typeface="Poppins SemiBold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D4A2BE-9F71-4748-97EC-577E9153E62E}">
  <a:tblStyle styleId="{48D4A2BE-9F71-4748-97EC-577E9153E6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font" Target="fonts/font3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font" Target="fonts/font2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font" Target="fonts/font32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font" Target="fonts/font3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11" Type="http://schemas.openxmlformats.org/officeDocument/2006/relationships/image" Target="../media/image9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5" Type="http://schemas.openxmlformats.org/officeDocument/2006/relationships/image" Target="../media/image67.png"/><Relationship Id="rId10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7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97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9.png"/><Relationship Id="rId14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109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5.png"/><Relationship Id="rId5" Type="http://schemas.openxmlformats.org/officeDocument/2006/relationships/image" Target="../media/image9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875633"/>
            <a:ext cx="11277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4999583"/>
            <a:ext cx="8477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9225" y="4999583"/>
            <a:ext cx="12954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28925" y="4999583"/>
            <a:ext cx="83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81425" y="4999583"/>
            <a:ext cx="11144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10150" y="4999583"/>
            <a:ext cx="9810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1525041"/>
            <a:ext cx="2909887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457200" y="1991766"/>
            <a:ext cx="8191023" cy="100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Optimización Comercial mediante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Análisis de Datos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457200" y="3113633"/>
            <a:ext cx="173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Ferretería El Amigo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457200" y="6524625"/>
            <a:ext cx="24479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Presentación Ejecutiva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11172825" y="6524625"/>
            <a:ext cx="5619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Julio 2026</a:t>
            </a:r>
            <a:endParaRPr/>
          </a:p>
        </p:txBody>
      </p:sp>
      <p:pic>
        <p:nvPicPr>
          <p:cNvPr id="148" name="Google Shape;14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600" y="1601241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/>
          <p:nvPr/>
        </p:nvSpPr>
        <p:spPr>
          <a:xfrm>
            <a:off x="457200" y="411375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Elaborado por: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457200" y="4351883"/>
            <a:ext cx="11277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Yhon Jairo González Rivera</a:t>
            </a:r>
            <a:endParaRPr/>
          </a:p>
        </p:txBody>
      </p:sp>
      <p:pic>
        <p:nvPicPr>
          <p:cNvPr id="151" name="Google Shape;151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9125" y="509959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81150" y="509959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990850" y="509959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943350" y="509959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172075" y="5099595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524125"/>
            <a:ext cx="214878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39330" y="2524125"/>
            <a:ext cx="214878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1460" y="2524125"/>
            <a:ext cx="2148929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03740" y="2524125"/>
            <a:ext cx="214878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5870" y="2524125"/>
            <a:ext cx="2148929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" y="3924300"/>
            <a:ext cx="214878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39330" y="3924300"/>
            <a:ext cx="214878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21460" y="3924300"/>
            <a:ext cx="214892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03740" y="3924300"/>
            <a:ext cx="214878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85870" y="3924300"/>
            <a:ext cx="214892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4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2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685800" y="27241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85800" y="2952750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685800" y="3248025"/>
            <a:ext cx="172015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Situación inicial del negocio.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967930" y="272415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2967930" y="2952750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2967930" y="3248025"/>
            <a:ext cx="17201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Inconsistencias y cuellos de botella.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5250038" y="2724150"/>
            <a:ext cx="4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5250060" y="2952750"/>
            <a:ext cx="18063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5250060" y="3248025"/>
            <a:ext cx="172030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Metas del proyecto BI.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7532340" y="2724150"/>
            <a:ext cx="2095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7532340" y="2952750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7532340" y="3248025"/>
            <a:ext cx="172015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Flujo end-to-end.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9814470" y="272415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9814470" y="2952750"/>
            <a:ext cx="18063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Datos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9814470" y="3248025"/>
            <a:ext cx="172030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Estructura relacional.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85800" y="4124325"/>
            <a:ext cx="4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685800" y="4352925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SQL Analytics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685800" y="4648200"/>
            <a:ext cx="172015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Consultas de negocio.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2967930" y="41243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967930" y="4352925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967930" y="4648200"/>
            <a:ext cx="172015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Panel en Power BI.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5250037" y="4124325"/>
            <a:ext cx="4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250060" y="4352925"/>
            <a:ext cx="18063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Hallazgos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5250060" y="4648200"/>
            <a:ext cx="172030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Descubrimientos clave.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7532358" y="4124325"/>
            <a:ext cx="4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7532340" y="4352925"/>
            <a:ext cx="18061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Acciones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7532340" y="4648200"/>
            <a:ext cx="172015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Recomendaciones &amp; Roadmap.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9814470" y="4124325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9814470" y="4352925"/>
            <a:ext cx="18063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9814470" y="4648200"/>
            <a:ext cx="172030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Beneficios y lecciones.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 — Recorrido del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2109787"/>
            <a:ext cx="54864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8400" y="3357562"/>
            <a:ext cx="54864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8400" y="4605337"/>
            <a:ext cx="54864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5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3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457200" y="2109787"/>
            <a:ext cx="576072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Diagnóstico Comercial Inicial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457200" y="2471737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Ferretería El Amigo operaba bajo esquemas tradicionales de registro, dificultando la consolidación estratégica de la información operativa.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742950" y="3119437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Information dispersa en múltiples archivos de Excel independientes.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742950" y="3481387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Retrasos considerables para obtener indicadores gerenciales básicos.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790575" y="3843337"/>
            <a:ext cx="5153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Escasa visibilidad sobre ventas reales, niveles de inventario y rentabilidad neta.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6477000" y="2328849"/>
            <a:ext cx="1066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6477000" y="2538412"/>
            <a:ext cx="505777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desestructurados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sitios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23" name="Google Shape;2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34450" y="307181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/>
        </p:nvSpPr>
        <p:spPr>
          <a:xfrm>
            <a:off x="6477000" y="3576626"/>
            <a:ext cx="1299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CONSECUENCIA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6477000" y="3786187"/>
            <a:ext cx="5057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Decisiones a ciegas, quiebres de stock y margen descontrolado.</a:t>
            </a:r>
            <a:endParaRPr/>
          </a:p>
        </p:txBody>
      </p:sp>
      <p:pic>
        <p:nvPicPr>
          <p:cNvPr id="226" name="Google Shape;2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34450" y="431958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5"/>
          <p:cNvSpPr txBox="1"/>
          <p:nvPr/>
        </p:nvSpPr>
        <p:spPr>
          <a:xfrm>
            <a:off x="6477000" y="4824412"/>
            <a:ext cx="866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SOLUCIÓN BI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6477000" y="5033962"/>
            <a:ext cx="5057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Repositorio centralizado, analítica SQL y dashboard interactivo.</a:t>
            </a:r>
            <a:endParaRPr/>
          </a:p>
        </p:txBody>
      </p:sp>
      <p:pic>
        <p:nvPicPr>
          <p:cNvPr id="229" name="Google Shape;2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" y="31432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3505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7200" y="386715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¿Por qué se realizó este proyecto?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150864"/>
            <a:ext cx="11277600" cy="1108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4964310"/>
            <a:ext cx="112776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3487935"/>
            <a:ext cx="21639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35460" y="3487935"/>
            <a:ext cx="2164109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13870" y="3487935"/>
            <a:ext cx="2164109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92280" y="3487935"/>
            <a:ext cx="2164109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70690" y="3487935"/>
            <a:ext cx="21639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11029950" y="652462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4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647700" y="2379464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647700" y="2589014"/>
            <a:ext cx="108966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Desarrollar una solución integral de Business Intelligence que permita transformar los datos operativos de la ferretería en información útil para apoyar la toma de decisiones estratégicas.</a:t>
            </a:r>
            <a:endParaRPr/>
          </a:p>
        </p:txBody>
      </p:sp>
      <p:sp>
        <p:nvSpPr>
          <p:cNvPr id="250" name="Google Shape;250;p16"/>
          <p:cNvSpPr txBox="1"/>
          <p:nvPr/>
        </p:nvSpPr>
        <p:spPr>
          <a:xfrm>
            <a:off x="647700" y="5078610"/>
            <a:ext cx="10896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clave del proyecto: Ventas, Utilidad, Clientes Activos, Inventario y Rentabilidad por Categoría.</a:t>
            </a:r>
            <a:endParaRPr/>
          </a:p>
        </p:txBody>
      </p:sp>
      <p:pic>
        <p:nvPicPr>
          <p:cNvPr id="251" name="Google Shape;25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7225" y="368796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 txBox="1"/>
          <p:nvPr/>
        </p:nvSpPr>
        <p:spPr>
          <a:xfrm>
            <a:off x="657225" y="3954660"/>
            <a:ext cx="18521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Calidad de Datos</a:t>
            </a:r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657225" y="4230885"/>
            <a:ext cx="17639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Depurar e higienizar registros operativos.</a:t>
            </a:r>
            <a:endParaRPr/>
          </a:p>
        </p:txBody>
      </p:sp>
      <p:pic>
        <p:nvPicPr>
          <p:cNvPr id="254" name="Google Shape;254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35485" y="36879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 txBox="1"/>
          <p:nvPr/>
        </p:nvSpPr>
        <p:spPr>
          <a:xfrm>
            <a:off x="2935485" y="3954660"/>
            <a:ext cx="18522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Centralización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2935485" y="4230885"/>
            <a:ext cx="17640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Unificar archivos en base de datos PostgreSQL.</a:t>
            </a:r>
            <a:endParaRPr/>
          </a:p>
        </p:txBody>
      </p:sp>
      <p:pic>
        <p:nvPicPr>
          <p:cNvPr id="257" name="Google Shape;25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13895" y="368796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/>
          <p:nvPr/>
        </p:nvSpPr>
        <p:spPr>
          <a:xfrm>
            <a:off x="5213895" y="3954660"/>
            <a:ext cx="18522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Automatización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5213895" y="4230885"/>
            <a:ext cx="17640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Automatizar el cálculo de métricas clave.</a:t>
            </a:r>
            <a:endParaRPr/>
          </a:p>
        </p:txBody>
      </p:sp>
      <p:pic>
        <p:nvPicPr>
          <p:cNvPr id="260" name="Google Shape;260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492305" y="36879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 txBox="1"/>
          <p:nvPr/>
        </p:nvSpPr>
        <p:spPr>
          <a:xfrm>
            <a:off x="7492305" y="3954660"/>
            <a:ext cx="18522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Oportunidades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7492305" y="4230885"/>
            <a:ext cx="17640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Detectar patrones comerciales y rentabilidad.</a:t>
            </a:r>
            <a:endParaRPr/>
          </a:p>
        </p:txBody>
      </p:sp>
      <p:pic>
        <p:nvPicPr>
          <p:cNvPr id="263" name="Google Shape;263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770715" y="368796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/>
        </p:nvSpPr>
        <p:spPr>
          <a:xfrm>
            <a:off x="9770715" y="3954660"/>
            <a:ext cx="18521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9770715" y="4230885"/>
            <a:ext cx="17639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Diseñar un panel dinámico en Power BI.</a:t>
            </a:r>
            <a:endParaRPr/>
          </a:p>
        </p:txBody>
      </p:sp>
      <p:pic>
        <p:nvPicPr>
          <p:cNvPr id="266" name="Google Shape;266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524125" y="511671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38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583781"/>
            <a:ext cx="3657600" cy="134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7200" y="3583781"/>
            <a:ext cx="3657600" cy="134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3583781"/>
            <a:ext cx="3657600" cy="134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39900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3026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6152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59278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32403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05529" y="26122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5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837900" y="3069431"/>
            <a:ext cx="105156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823912" y="3145631"/>
            <a:ext cx="504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Negocio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2578000" y="3145622"/>
            <a:ext cx="5049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4308276" y="3145631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ETL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5743275" y="3145623"/>
            <a:ext cx="819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PostgreSQL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7359253" y="3145631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 Analytics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9175253" y="3145631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 BI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10600729" y="3145631"/>
            <a:ext cx="1028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 Report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657225" y="3783806"/>
            <a:ext cx="342042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Inicial (1 - 3)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657225" y="4079081"/>
            <a:ext cx="32575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Entendimiento de la operación, auditoría de calidad de archivos Excel y preparación de procesos de Limpieza y ETL en Python/SQL.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4467225" y="3783806"/>
            <a:ext cx="342042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de Modelado (4 - 5)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4467225" y="4079081"/>
            <a:ext cx="32575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Diseño e implementación de la base de datos relacional en PostgreSQL y ejecución de consultas SQL orientadas a responder preguntas de negocio.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8277225" y="3783806"/>
            <a:ext cx="342042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Visual &amp; Estratégica (6 - 7)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8277225" y="4079081"/>
            <a:ext cx="32575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Construcción del modelo dimensional en Power BI, diseño visual de KPIs e integración de reporte para toma de decisiones ejecutivas.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402931"/>
            <a:ext cx="112776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2569368"/>
            <a:ext cx="2133600" cy="160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2569368"/>
            <a:ext cx="2133600" cy="160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9200" y="2569368"/>
            <a:ext cx="2133600" cy="160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15200" y="2569368"/>
            <a:ext cx="2133600" cy="160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1200" y="2569368"/>
            <a:ext cx="2133600" cy="160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8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6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628650" y="4574381"/>
            <a:ext cx="1093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El modelo permite analizar el ciclo completo del negocio, desde la compra del inventario hasta la venta final al cliente.</a:t>
            </a:r>
            <a:endParaRPr/>
          </a:p>
        </p:txBody>
      </p:sp>
      <p:pic>
        <p:nvPicPr>
          <p:cNvPr id="316" name="Google Shape;31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38275" y="2797968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 txBox="1"/>
          <p:nvPr/>
        </p:nvSpPr>
        <p:spPr>
          <a:xfrm>
            <a:off x="613886" y="3102768"/>
            <a:ext cx="18202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Ventas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657225" y="3417093"/>
            <a:ext cx="1733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Registra las transacciones y detalle comercial diario.</a:t>
            </a:r>
            <a:endParaRPr/>
          </a:p>
        </p:txBody>
      </p:sp>
      <p:pic>
        <p:nvPicPr>
          <p:cNvPr id="319" name="Google Shape;31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67125" y="279796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8"/>
          <p:cNvSpPr txBox="1"/>
          <p:nvPr/>
        </p:nvSpPr>
        <p:spPr>
          <a:xfrm>
            <a:off x="2899886" y="3102768"/>
            <a:ext cx="18202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Clientes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2943225" y="3417093"/>
            <a:ext cx="1733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Identifica quién compra, perfil y segmentación.</a:t>
            </a:r>
            <a:endParaRPr/>
          </a:p>
        </p:txBody>
      </p:sp>
      <p:pic>
        <p:nvPicPr>
          <p:cNvPr id="322" name="Google Shape;322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67412" y="2797968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8"/>
          <p:cNvSpPr txBox="1"/>
          <p:nvPr/>
        </p:nvSpPr>
        <p:spPr>
          <a:xfrm>
            <a:off x="5185886" y="3102768"/>
            <a:ext cx="18202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Productos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5229225" y="3417093"/>
            <a:ext cx="1733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Contiene catálogo, categorías y precios base.</a:t>
            </a:r>
            <a:endParaRPr/>
          </a:p>
        </p:txBody>
      </p:sp>
      <p:pic>
        <p:nvPicPr>
          <p:cNvPr id="325" name="Google Shape;325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39125" y="279796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8"/>
          <p:cNvSpPr txBox="1"/>
          <p:nvPr/>
        </p:nvSpPr>
        <p:spPr>
          <a:xfrm>
            <a:off x="7471886" y="3102768"/>
            <a:ext cx="18202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Compras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7515225" y="3417093"/>
            <a:ext cx="1733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Controla el reabastecimiento y rotación de stock.</a:t>
            </a:r>
            <a:endParaRPr/>
          </a:p>
        </p:txBody>
      </p:sp>
      <p:pic>
        <p:nvPicPr>
          <p:cNvPr id="328" name="Google Shape;328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25125" y="279796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 txBox="1"/>
          <p:nvPr/>
        </p:nvSpPr>
        <p:spPr>
          <a:xfrm>
            <a:off x="9757886" y="3102768"/>
            <a:ext cx="18202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Proveedores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9801225" y="3417093"/>
            <a:ext cx="17335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Administra la relación comercial y costos de origen.</a:t>
            </a:r>
            <a:endParaRPr/>
          </a:p>
        </p:txBody>
      </p:sp>
      <p:pic>
        <p:nvPicPr>
          <p:cNvPr id="331" name="Google Shape;331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728787" y="46124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8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Modelo de Datos Relacional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9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7</a:t>
            </a:r>
            <a:endParaRPr/>
          </a:p>
        </p:txBody>
      </p:sp>
      <p:graphicFrame>
        <p:nvGraphicFramePr>
          <p:cNvPr id="341" name="Google Shape;341;p19"/>
          <p:cNvGraphicFramePr/>
          <p:nvPr/>
        </p:nvGraphicFramePr>
        <p:xfrm>
          <a:off x="457200" y="2033587"/>
          <a:ext cx="11277600" cy="3476575"/>
        </p:xfrm>
        <a:graphic>
          <a:graphicData uri="http://schemas.openxmlformats.org/drawingml/2006/table">
            <a:tbl>
              <a:tblPr firstRow="1" bandRow="1">
                <a:noFill/>
                <a:tableStyleId>{48D4A2BE-9F71-4748-97EC-577E9153E62E}</a:tableStyleId>
              </a:tblPr>
              <a:tblGrid>
                <a:gridCol w="169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Área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Pregunta Respondida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Resultado Obtenido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Ventas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¿Qué productos se venden más en volumen y facturación?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284C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Top 10 productos clave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identificados para protección de stock.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¿Quiénes son los compradores que generan la mayor parte del ingreso?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284C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Segmentación Clientes VIP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con el 60%+ de ingresos acumulados.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Inventario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¿Qué productos están en niveles de reposición o agotamiento?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C262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Stock crítico detectado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en líneas de alta demanda.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Compras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¿Qué proveedores concentran el gasto de abastecimiento?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284C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Proveedores estratégicos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priorizados para negociación.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Rentabilidad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¿Qué categorías de productos generan el mayor margen de utilidad?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Categorías de alta rentabilidad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aisladas y priorizadas.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2" name="Google Shape;342;p19"/>
          <p:cNvSpPr/>
          <p:nvPr/>
        </p:nvSpPr>
        <p:spPr>
          <a:xfrm>
            <a:off x="457200" y="317182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2148780" y="3171825"/>
            <a:ext cx="5074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7223670" y="3171825"/>
            <a:ext cx="45111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457200" y="3867150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2148780" y="3867150"/>
            <a:ext cx="5074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7223670" y="3867150"/>
            <a:ext cx="45111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57200" y="433387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2148780" y="4333875"/>
            <a:ext cx="5074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7223670" y="4333875"/>
            <a:ext cx="45111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457200" y="4800600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2148780" y="4800600"/>
            <a:ext cx="5074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7223670" y="4800600"/>
            <a:ext cx="45111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57200" y="549592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2148780" y="5495925"/>
            <a:ext cx="5074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7223670" y="5495925"/>
            <a:ext cx="45111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SQL Analytics — Preguntas de Negocio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2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047750"/>
            <a:ext cx="54483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057525"/>
            <a:ext cx="5448300" cy="90011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0"/>
          <p:cNvSpPr txBox="1"/>
          <p:nvPr/>
        </p:nvSpPr>
        <p:spPr>
          <a:xfrm>
            <a:off x="457200" y="457200"/>
            <a:ext cx="572071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Ejecutivo Power BI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685800" y="1247775"/>
            <a:ext cx="527065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KPIs Monitoreados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57225" y="3257550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Filtros Dinámicos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57225" y="3571875"/>
            <a:ext cx="50482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Año | Mes | Categoría de Producto | Vendedor | Proveedor</a:t>
            </a:r>
            <a:endParaRPr/>
          </a:p>
        </p:txBody>
      </p:sp>
      <p:pic>
        <p:nvPicPr>
          <p:cNvPr id="369" name="Google Shape;36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12858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0"/>
          <p:cNvSpPr txBox="1"/>
          <p:nvPr/>
        </p:nvSpPr>
        <p:spPr>
          <a:xfrm>
            <a:off x="771525" y="1562100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857250" y="1562100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Ventas Totales: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Facturación global acumulada.</a:t>
            </a:r>
            <a:endParaRPr/>
          </a:p>
        </p:txBody>
      </p:sp>
      <p:sp>
        <p:nvSpPr>
          <p:cNvPr id="372" name="Google Shape;372;p20"/>
          <p:cNvSpPr txBox="1"/>
          <p:nvPr/>
        </p:nvSpPr>
        <p:spPr>
          <a:xfrm>
            <a:off x="771525" y="1790700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857250" y="1790700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Utilidad Bruta: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Margen económico operativo.</a:t>
            </a:r>
            <a:endParaRPr/>
          </a:p>
        </p:txBody>
      </p:sp>
      <p:sp>
        <p:nvSpPr>
          <p:cNvPr id="374" name="Google Shape;374;p20"/>
          <p:cNvSpPr txBox="1"/>
          <p:nvPr/>
        </p:nvSpPr>
        <p:spPr>
          <a:xfrm>
            <a:off x="771525" y="2019300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857250" y="2019300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Clientes Activos: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Volumen de compradores en periodo.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771525" y="2476500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0"/>
          <p:cNvSpPr txBox="1"/>
          <p:nvPr/>
        </p:nvSpPr>
        <p:spPr>
          <a:xfrm>
            <a:off x="857250" y="2476500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Productos Bajo Stock: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Alerta de reabastecimiento.</a:t>
            </a:r>
            <a:endParaRPr/>
          </a:p>
        </p:txBody>
      </p:sp>
      <p:pic>
        <p:nvPicPr>
          <p:cNvPr id="380" name="Google Shape;38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" y="32956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0"/>
          <p:cNvPicPr preferRelativeResize="0"/>
          <p:nvPr/>
        </p:nvPicPr>
        <p:blipFill rotWithShape="1">
          <a:blip r:embed="rId8">
            <a:alphaModFix/>
          </a:blip>
          <a:srcRect l="14948" t="15941" r="19461" b="18567"/>
          <a:stretch/>
        </p:blipFill>
        <p:spPr>
          <a:xfrm>
            <a:off x="5771325" y="875220"/>
            <a:ext cx="6111651" cy="48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895475"/>
            <a:ext cx="55435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895475"/>
            <a:ext cx="55435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3867150"/>
            <a:ext cx="55435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867150"/>
            <a:ext cx="55435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" y="2943225"/>
            <a:ext cx="5143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91275" y="2943225"/>
            <a:ext cx="514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" y="4914900"/>
            <a:ext cx="5143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91275" y="4914900"/>
            <a:ext cx="514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1103947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9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657225" y="2124075"/>
            <a:ext cx="5400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Hallazgo 1: Concentración de Ventas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657225" y="2447925"/>
            <a:ext cx="5143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grupo reducido de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Clientes VIP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concentra la mayor parte de los ingresos totales de la ferretería.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6391275" y="2124075"/>
            <a:ext cx="5400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Hallazgo 2: Inventario Crítico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6391275" y="2447925"/>
            <a:ext cx="5143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Existen productos de alta rotación comercial que se encuentran actualmente en estado de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stock bajo o crítico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657225" y="4095750"/>
            <a:ext cx="5400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Hallazgo 3: Margen por Categorías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657225" y="4419600"/>
            <a:ext cx="5143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Determinadas categorías presentan una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rentabilidad superior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pese a no tener el mayor volumen de ventas.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6391275" y="4095750"/>
            <a:ext cx="5400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D9770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Hallazgo 4: Política de Descuentos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6391275" y="4419600"/>
            <a:ext cx="5143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 descuentos aplicados sin control estricto están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erosionando el margen neto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transacciones clave.</a:t>
            </a:r>
            <a:endParaRPr/>
          </a:p>
        </p:txBody>
      </p:sp>
      <p:pic>
        <p:nvPicPr>
          <p:cNvPr id="406" name="Google Shape;40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7225" y="2162175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91275" y="2162175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7225" y="4133850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91275" y="413385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1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Principales Hallazgos del Análisis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10982325" y="6524625"/>
            <a:ext cx="752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10</a:t>
            </a:r>
            <a:endParaRPr/>
          </a:p>
        </p:txBody>
      </p:sp>
      <p:graphicFrame>
        <p:nvGraphicFramePr>
          <p:cNvPr id="419" name="Google Shape;419;p22"/>
          <p:cNvGraphicFramePr/>
          <p:nvPr/>
        </p:nvGraphicFramePr>
        <p:xfrm>
          <a:off x="457200" y="1919287"/>
          <a:ext cx="11277600" cy="3705175"/>
        </p:xfrm>
        <a:graphic>
          <a:graphicData uri="http://schemas.openxmlformats.org/drawingml/2006/table">
            <a:tbl>
              <a:tblPr firstRow="1" bandRow="1">
                <a:noFill/>
                <a:tableStyleId>{48D4A2BE-9F71-4748-97EC-577E9153E62E}</a:tableStyleId>
              </a:tblPr>
              <a:tblGrid>
                <a:gridCol w="39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Recomendación Estratégica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Impacto Esperado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Prioridad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Acción Inmediata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Reponer inventario crítico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Evitar pérdida de facturación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Generar orden de compra de productos clave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Fidelizar clientes VIP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Asegurar la recurrencia del ingreso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Diseñar programa de beneficios y crédito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Revisar política de descuentos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Proteger el margen de utilidad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Establecer límites parametrizados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Negociar con proveedores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Optimizar costos y plazos de pago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Consolidar compras por volumen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Automatizar seguimiento BI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Garantizar visibilidad continua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Capacitar al equipo en el uso de Power BI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0" name="Google Shape;420;p22"/>
          <p:cNvSpPr/>
          <p:nvPr/>
        </p:nvSpPr>
        <p:spPr>
          <a:xfrm>
            <a:off x="457200" y="3057525"/>
            <a:ext cx="39470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404270" y="3057525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7223670" y="305752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8915251" y="3057525"/>
            <a:ext cx="2819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457200" y="3752850"/>
            <a:ext cx="39470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404270" y="3752850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7223670" y="3752850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8915251" y="3752850"/>
            <a:ext cx="2819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457200" y="4219575"/>
            <a:ext cx="39470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4404270" y="4219575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7223670" y="421957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8915251" y="4219575"/>
            <a:ext cx="2819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457200" y="4914900"/>
            <a:ext cx="39470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404270" y="4914900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7223670" y="4914900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8915251" y="4914900"/>
            <a:ext cx="2819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457200" y="5610225"/>
            <a:ext cx="39470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4404270" y="5610225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7223670" y="5610225"/>
            <a:ext cx="1691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8915251" y="5610225"/>
            <a:ext cx="2819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9875" y="2624125"/>
            <a:ext cx="5619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9378" y="3319442"/>
            <a:ext cx="752475" cy="33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85577" y="3900470"/>
            <a:ext cx="752475" cy="293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04625" y="4515624"/>
            <a:ext cx="561975" cy="33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09378" y="5176818"/>
            <a:ext cx="752475" cy="33935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2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Recomendaciones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176462"/>
            <a:ext cx="36067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2500" y="2176462"/>
            <a:ext cx="36068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176462"/>
            <a:ext cx="36067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3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11010900" y="65246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11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657225" y="2443151"/>
            <a:ext cx="72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657225" y="2652712"/>
            <a:ext cx="33669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30 Días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657225" y="3100387"/>
            <a:ext cx="3206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Iniciativas Inmediatas:</a:t>
            </a:r>
            <a:endParaRPr/>
          </a:p>
        </p:txBody>
      </p:sp>
      <p:sp>
        <p:nvSpPr>
          <p:cNvPr id="460" name="Google Shape;460;p23"/>
          <p:cNvSpPr txBox="1"/>
          <p:nvPr/>
        </p:nvSpPr>
        <p:spPr>
          <a:xfrm>
            <a:off x="4492525" y="2443152"/>
            <a:ext cx="72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FASE 2</a:t>
            </a:r>
            <a:endParaRPr/>
          </a:p>
        </p:txBody>
      </p:sp>
      <p:sp>
        <p:nvSpPr>
          <p:cNvPr id="461" name="Google Shape;461;p23"/>
          <p:cNvSpPr txBox="1"/>
          <p:nvPr/>
        </p:nvSpPr>
        <p:spPr>
          <a:xfrm>
            <a:off x="4492525" y="2652712"/>
            <a:ext cx="336713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60 Días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4492525" y="3100387"/>
            <a:ext cx="32067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Consolidación Comercial:</a:t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8327975" y="2443152"/>
            <a:ext cx="610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FASE 3</a:t>
            </a:r>
            <a:endParaRPr/>
          </a:p>
        </p:txBody>
      </p:sp>
      <p:sp>
        <p:nvSpPr>
          <p:cNvPr id="464" name="Google Shape;464;p23"/>
          <p:cNvSpPr txBox="1"/>
          <p:nvPr/>
        </p:nvSpPr>
        <p:spPr>
          <a:xfrm>
            <a:off x="8327975" y="2652712"/>
            <a:ext cx="33669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90 Días</a:t>
            </a:r>
            <a:endParaRPr/>
          </a:p>
        </p:txBody>
      </p:sp>
      <p:sp>
        <p:nvSpPr>
          <p:cNvPr id="465" name="Google Shape;465;p23"/>
          <p:cNvSpPr txBox="1"/>
          <p:nvPr/>
        </p:nvSpPr>
        <p:spPr>
          <a:xfrm>
            <a:off x="8327975" y="3100387"/>
            <a:ext cx="3206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Sostenibilidad BI:</a:t>
            </a:r>
            <a:endParaRPr/>
          </a:p>
        </p:txBody>
      </p:sp>
      <p:sp>
        <p:nvSpPr>
          <p:cNvPr id="466" name="Google Shape;466;p23"/>
          <p:cNvSpPr txBox="1"/>
          <p:nvPr/>
        </p:nvSpPr>
        <p:spPr>
          <a:xfrm>
            <a:off x="923925" y="339566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Reposición urgente de productos en stock crítico.</a:t>
            </a:r>
            <a:endParaRPr/>
          </a:p>
        </p:txBody>
      </p:sp>
      <p:sp>
        <p:nvSpPr>
          <p:cNvPr id="467" name="Google Shape;467;p23"/>
          <p:cNvSpPr txBox="1"/>
          <p:nvPr/>
        </p:nvSpPr>
        <p:spPr>
          <a:xfrm>
            <a:off x="923925" y="398621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Validación de fórmulas y KPIs en el dashboard.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923925" y="457676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Fijación de reglas para otorgar descuentos.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4759225" y="3395662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Lanzamiento de campañas de fidelización VIP.</a:t>
            </a:r>
            <a:endParaRPr/>
          </a:p>
        </p:txBody>
      </p:sp>
      <p:sp>
        <p:nvSpPr>
          <p:cNvPr id="470" name="Google Shape;470;p23"/>
          <p:cNvSpPr txBox="1"/>
          <p:nvPr/>
        </p:nvSpPr>
        <p:spPr>
          <a:xfrm>
            <a:off x="4759225" y="3986212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Mesa de negociación con proveedores estratégicos.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4759225" y="4576762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Ajustes de precios en categorías de alta rotación.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8594675" y="339566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Seguimiento semanal continuo mediante Power BI.</a:t>
            </a:r>
            <a:endParaRPr/>
          </a:p>
        </p:txBody>
      </p:sp>
      <p:sp>
        <p:nvSpPr>
          <p:cNvPr id="473" name="Google Shape;473;p23"/>
          <p:cNvSpPr txBox="1"/>
          <p:nvPr/>
        </p:nvSpPr>
        <p:spPr>
          <a:xfrm>
            <a:off x="8594675" y="398621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Evaluación del impacto en margen y ventas.</a:t>
            </a:r>
            <a:endParaRPr/>
          </a:p>
        </p:txBody>
      </p:sp>
      <p:sp>
        <p:nvSpPr>
          <p:cNvPr id="474" name="Google Shape;474;p23"/>
          <p:cNvSpPr txBox="1"/>
          <p:nvPr/>
        </p:nvSpPr>
        <p:spPr>
          <a:xfrm>
            <a:off x="8594675" y="4576762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Institucionalización de la cultura de datos.</a:t>
            </a:r>
            <a:endParaRPr/>
          </a:p>
        </p:txBody>
      </p:sp>
      <p:pic>
        <p:nvPicPr>
          <p:cNvPr id="475" name="Google Shape;47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" y="34194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" y="40100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" y="46005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34194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40100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46005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7975" y="34194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7975" y="40100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7975" y="46005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3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Roadmap de Implementación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247900"/>
            <a:ext cx="36321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9850" y="2247900"/>
            <a:ext cx="36321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247900"/>
            <a:ext cx="3632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867150"/>
            <a:ext cx="36321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9850" y="3867150"/>
            <a:ext cx="36321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02500" y="3867150"/>
            <a:ext cx="3632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4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498" name="Google Shape;498;p24"/>
          <p:cNvSpPr txBox="1"/>
          <p:nvPr/>
        </p:nvSpPr>
        <p:spPr>
          <a:xfrm>
            <a:off x="10991850" y="6524625"/>
            <a:ext cx="742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12</a:t>
            </a:r>
            <a:endParaRPr/>
          </a:p>
        </p:txBody>
      </p:sp>
      <p:pic>
        <p:nvPicPr>
          <p:cNvPr id="499" name="Google Shape;499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20800" y="24479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4"/>
          <p:cNvSpPr txBox="1"/>
          <p:nvPr/>
        </p:nvSpPr>
        <p:spPr>
          <a:xfrm>
            <a:off x="576422" y="2790825"/>
            <a:ext cx="33937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Mayor Rentabilidad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657225" y="3105150"/>
            <a:ext cx="3232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Protección del margen de utilidad y control de descuentos.</a:t>
            </a:r>
            <a:endParaRPr/>
          </a:p>
        </p:txBody>
      </p:sp>
      <p:pic>
        <p:nvPicPr>
          <p:cNvPr id="502" name="Google Shape;502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3451" y="24479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4"/>
          <p:cNvSpPr txBox="1"/>
          <p:nvPr/>
        </p:nvSpPr>
        <p:spPr>
          <a:xfrm>
            <a:off x="4399072" y="2790825"/>
            <a:ext cx="33937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de Inventario</a:t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4479875" y="3105150"/>
            <a:ext cx="32321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Minimización de stock crítico y rotación eficiente.</a:t>
            </a:r>
            <a:endParaRPr/>
          </a:p>
        </p:txBody>
      </p:sp>
      <p:pic>
        <p:nvPicPr>
          <p:cNvPr id="505" name="Google Shape;505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99587" y="24479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4"/>
          <p:cNvSpPr txBox="1"/>
          <p:nvPr/>
        </p:nvSpPr>
        <p:spPr>
          <a:xfrm>
            <a:off x="8221719" y="2790825"/>
            <a:ext cx="3393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Decisiones Rápidas</a:t>
            </a:r>
            <a:endParaRPr/>
          </a:p>
        </p:txBody>
      </p:sp>
      <p:sp>
        <p:nvSpPr>
          <p:cNvPr id="507" name="Google Shape;507;p24"/>
          <p:cNvSpPr txBox="1"/>
          <p:nvPr/>
        </p:nvSpPr>
        <p:spPr>
          <a:xfrm>
            <a:off x="8302525" y="3105150"/>
            <a:ext cx="3232249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Agilidad gerencial sustentada en datos oportunos.</a:t>
            </a:r>
            <a:endParaRPr/>
          </a:p>
        </p:txBody>
      </p:sp>
      <p:pic>
        <p:nvPicPr>
          <p:cNvPr id="508" name="Google Shape;508;p2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20800" y="406717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4"/>
          <p:cNvSpPr txBox="1"/>
          <p:nvPr/>
        </p:nvSpPr>
        <p:spPr>
          <a:xfrm>
            <a:off x="576422" y="4410075"/>
            <a:ext cx="33937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Servicio al Cliente</a:t>
            </a:r>
            <a:endParaRPr/>
          </a:p>
        </p:txBody>
      </p:sp>
      <p:sp>
        <p:nvSpPr>
          <p:cNvPr id="510" name="Google Shape;510;p24"/>
          <p:cNvSpPr txBox="1"/>
          <p:nvPr/>
        </p:nvSpPr>
        <p:spPr>
          <a:xfrm>
            <a:off x="657225" y="4724400"/>
            <a:ext cx="32321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Atención priorizada e informada para clientes VIP.</a:t>
            </a:r>
            <a:endParaRPr/>
          </a:p>
        </p:txBody>
      </p:sp>
      <p:pic>
        <p:nvPicPr>
          <p:cNvPr id="511" name="Google Shape;511;p2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76788" y="406717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4"/>
          <p:cNvSpPr txBox="1"/>
          <p:nvPr/>
        </p:nvSpPr>
        <p:spPr>
          <a:xfrm>
            <a:off x="4399072" y="4410075"/>
            <a:ext cx="33937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Centralizados</a:t>
            </a:r>
            <a:endParaRPr/>
          </a:p>
        </p:txBody>
      </p:sp>
      <p:sp>
        <p:nvSpPr>
          <p:cNvPr id="513" name="Google Shape;513;p24"/>
          <p:cNvSpPr txBox="1"/>
          <p:nvPr/>
        </p:nvSpPr>
        <p:spPr>
          <a:xfrm>
            <a:off x="4479875" y="4724400"/>
            <a:ext cx="32321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Una única fuente de verdad confiable y estructurada.</a:t>
            </a:r>
            <a:endParaRPr/>
          </a:p>
        </p:txBody>
      </p:sp>
      <p:pic>
        <p:nvPicPr>
          <p:cNvPr id="514" name="Google Shape;514;p2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785300" y="40671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4"/>
          <p:cNvSpPr txBox="1"/>
          <p:nvPr/>
        </p:nvSpPr>
        <p:spPr>
          <a:xfrm>
            <a:off x="8221719" y="4410075"/>
            <a:ext cx="3393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Monitoreo en Tiempo Real</a:t>
            </a:r>
            <a:endParaRPr/>
          </a:p>
        </p:txBody>
      </p:sp>
      <p:sp>
        <p:nvSpPr>
          <p:cNvPr id="516" name="Google Shape;516;p24"/>
          <p:cNvSpPr txBox="1"/>
          <p:nvPr/>
        </p:nvSpPr>
        <p:spPr>
          <a:xfrm>
            <a:off x="8302525" y="4724400"/>
            <a:ext cx="323224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Seguimiento continuo mediante dashboards interactivos.</a:t>
            </a:r>
            <a:endParaRPr/>
          </a:p>
        </p:txBody>
      </p:sp>
      <p:sp>
        <p:nvSpPr>
          <p:cNvPr id="517" name="Google Shape;517;p24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Beneficios Esperados del Proyecto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686050"/>
            <a:ext cx="36321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9850" y="2686050"/>
            <a:ext cx="36321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686050"/>
            <a:ext cx="3632299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5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10991850" y="6524625"/>
            <a:ext cx="742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13</a:t>
            </a:r>
            <a:endParaRPr/>
          </a:p>
        </p:txBody>
      </p:sp>
      <p:sp>
        <p:nvSpPr>
          <p:cNvPr id="529" name="Google Shape;529;p25"/>
          <p:cNvSpPr txBox="1"/>
          <p:nvPr/>
        </p:nvSpPr>
        <p:spPr>
          <a:xfrm>
            <a:off x="685800" y="2914650"/>
            <a:ext cx="7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530" name="Google Shape;530;p25"/>
          <p:cNvSpPr txBox="1"/>
          <p:nvPr/>
        </p:nvSpPr>
        <p:spPr>
          <a:xfrm>
            <a:off x="685800" y="3400425"/>
            <a:ext cx="33336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Valor de los Datos</a:t>
            </a:r>
            <a:endParaRPr/>
          </a:p>
        </p:txBody>
      </p:sp>
      <p:sp>
        <p:nvSpPr>
          <p:cNvPr id="531" name="Google Shape;531;p25"/>
          <p:cNvSpPr txBox="1"/>
          <p:nvPr/>
        </p:nvSpPr>
        <p:spPr>
          <a:xfrm>
            <a:off x="685800" y="3733800"/>
            <a:ext cx="31749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Los datos dispersos de la operación fueron exitosamente consolidados y transformados en un activo de información útil para la toma de decisiones gerenciales.</a:t>
            </a:r>
            <a:endParaRPr/>
          </a:p>
        </p:txBody>
      </p:sp>
      <p:sp>
        <p:nvSpPr>
          <p:cNvPr id="532" name="Google Shape;532;p25"/>
          <p:cNvSpPr txBox="1"/>
          <p:nvPr/>
        </p:nvSpPr>
        <p:spPr>
          <a:xfrm>
            <a:off x="4508450" y="2914650"/>
            <a:ext cx="7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533" name="Google Shape;533;p25"/>
          <p:cNvSpPr txBox="1"/>
          <p:nvPr/>
        </p:nvSpPr>
        <p:spPr>
          <a:xfrm>
            <a:off x="4508450" y="3400425"/>
            <a:ext cx="33336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Integral End-to-End</a:t>
            </a:r>
            <a:endParaRPr/>
          </a:p>
        </p:txBody>
      </p:sp>
      <p:sp>
        <p:nvSpPr>
          <p:cNvPr id="534" name="Google Shape;534;p25"/>
          <p:cNvSpPr txBox="1"/>
          <p:nvPr/>
        </p:nvSpPr>
        <p:spPr>
          <a:xfrm>
            <a:off x="4508450" y="3733800"/>
            <a:ext cx="31749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arquitectura desarrollada integra limpiamente procesos de ETL, modelo relacional en PostgreSQL, analítica avanzada SQL y visualización dinámica.</a:t>
            </a:r>
            <a:endParaRPr/>
          </a:p>
        </p:txBody>
      </p:sp>
      <p:sp>
        <p:nvSpPr>
          <p:cNvPr id="535" name="Google Shape;535;p25"/>
          <p:cNvSpPr txBox="1"/>
          <p:nvPr/>
        </p:nvSpPr>
        <p:spPr>
          <a:xfrm>
            <a:off x="8331100" y="2914650"/>
            <a:ext cx="56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536" name="Google Shape;536;p25"/>
          <p:cNvSpPr txBox="1"/>
          <p:nvPr/>
        </p:nvSpPr>
        <p:spPr>
          <a:xfrm>
            <a:off x="8331100" y="3400425"/>
            <a:ext cx="333385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Impacto en la Gestión</a:t>
            </a:r>
            <a:endParaRPr/>
          </a:p>
        </p:txBody>
      </p:sp>
      <p:sp>
        <p:nvSpPr>
          <p:cNvPr id="537" name="Google Shape;537;p25"/>
          <p:cNvSpPr txBox="1"/>
          <p:nvPr/>
        </p:nvSpPr>
        <p:spPr>
          <a:xfrm>
            <a:off x="8331100" y="3733800"/>
            <a:ext cx="3175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dashboard gerencial entrega el control operativo directo a la ferretería, facilitando un monitoreo ágil enfocado en rentabilidad y continuidad del stock.</a:t>
            </a:r>
            <a:endParaRPr/>
          </a:p>
        </p:txBody>
      </p:sp>
      <p:sp>
        <p:nvSpPr>
          <p:cNvPr id="538" name="Google Shape;538;p25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Conclusiones Generales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562225"/>
            <a:ext cx="5543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62225"/>
            <a:ext cx="5543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867150"/>
            <a:ext cx="5543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867150"/>
            <a:ext cx="5543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6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10982325" y="6524625"/>
            <a:ext cx="752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14</a:t>
            </a:r>
            <a:endParaRPr/>
          </a:p>
        </p:txBody>
      </p:sp>
      <p:sp>
        <p:nvSpPr>
          <p:cNvPr id="551" name="Google Shape;551;p26"/>
          <p:cNvSpPr txBox="1"/>
          <p:nvPr/>
        </p:nvSpPr>
        <p:spPr>
          <a:xfrm>
            <a:off x="685800" y="2762250"/>
            <a:ext cx="53706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Calidad e Higiene de Datos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685800" y="3076575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análisis confiable depende directamente de la limpieza previa. Invertir tiempo en procesos ETL sólidos evita errores en la interpretación gerencial.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6419850" y="2762250"/>
            <a:ext cx="53706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 Relacional Sólido</a:t>
            </a: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6419850" y="3076575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modelo de datos bien estructurado en PostgreSQL facilita consultas complejas y asegura la consistencia e integridad de la información.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685800" y="4067175"/>
            <a:ext cx="53706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Traducción de SQL a Negocio</a:t>
            </a:r>
            <a:endParaRPr/>
          </a:p>
        </p:txBody>
      </p:sp>
      <p:sp>
        <p:nvSpPr>
          <p:cNvPr id="556" name="Google Shape;556;p26"/>
          <p:cNvSpPr txBox="1"/>
          <p:nvPr/>
        </p:nvSpPr>
        <p:spPr>
          <a:xfrm>
            <a:off x="685800" y="4381500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valor técnico del SQL se potencia al transformar consultas complejas en respuestas claras a preguntas estratégicas del negocio.</a:t>
            </a:r>
            <a:endParaRPr/>
          </a:p>
        </p:txBody>
      </p:sp>
      <p:sp>
        <p:nvSpPr>
          <p:cNvPr id="557" name="Google Shape;557;p26"/>
          <p:cNvSpPr txBox="1"/>
          <p:nvPr/>
        </p:nvSpPr>
        <p:spPr>
          <a:xfrm>
            <a:off x="6419850" y="4067175"/>
            <a:ext cx="53706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Comunicación Visual Efectiva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419850" y="4381500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 dashboards deben ser intuitivos y orientados a la acción; la claridad en la presentación acelera la adopción por parte de la alta dirección.</a:t>
            </a:r>
            <a:endParaRPr/>
          </a:p>
        </p:txBody>
      </p:sp>
      <p:pic>
        <p:nvPicPr>
          <p:cNvPr id="559" name="Google Shape;559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" y="2800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9850" y="28003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5800" y="410527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19850" y="41052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6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Lecciones Aprendidas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1862" y="3931890"/>
            <a:ext cx="49815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6438900"/>
            <a:ext cx="11277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7"/>
          <p:cNvSpPr txBox="1"/>
          <p:nvPr/>
        </p:nvSpPr>
        <p:spPr>
          <a:xfrm>
            <a:off x="457200" y="6524625"/>
            <a:ext cx="2752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Ferretería El Amigo — Business Intelligence Project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10991850" y="6524625"/>
            <a:ext cx="742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Diapositiva 15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4555807" y="2354609"/>
            <a:ext cx="3080385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¡Gracias!</a:t>
            </a:r>
            <a:endParaRPr/>
          </a:p>
        </p:txBody>
      </p:sp>
      <p:sp>
        <p:nvSpPr>
          <p:cNvPr id="574" name="Google Shape;574;p27"/>
          <p:cNvSpPr txBox="1"/>
          <p:nvPr/>
        </p:nvSpPr>
        <p:spPr>
          <a:xfrm>
            <a:off x="4610100" y="316989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¿Preguntas o comentarios?</a:t>
            </a:r>
            <a:endParaRPr/>
          </a:p>
        </p:txBody>
      </p:sp>
      <p:pic>
        <p:nvPicPr>
          <p:cNvPr id="575" name="Google Shape;57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778027" y="4061461"/>
            <a:ext cx="217725" cy="241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95350" y="4112875"/>
            <a:ext cx="21771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57912" y="411286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7"/>
          <p:cNvSpPr txBox="1"/>
          <p:nvPr/>
        </p:nvSpPr>
        <p:spPr>
          <a:xfrm>
            <a:off x="6443662" y="4127152"/>
            <a:ext cx="1752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yhonjairo90@hotmail.com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1282</Words>
  <Application>Microsoft Office PowerPoint</Application>
  <PresentationFormat>Panorámica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Inter SemiBold</vt:lpstr>
      <vt:lpstr>Montserrat</vt:lpstr>
      <vt:lpstr>Lato</vt:lpstr>
      <vt:lpstr>Inter Medium</vt:lpstr>
      <vt:lpstr>Inter</vt:lpstr>
      <vt:lpstr>Poppins</vt:lpstr>
      <vt:lpstr>Calibri</vt:lpstr>
      <vt:lpstr>Arial</vt:lpstr>
      <vt:lpstr>Poppins SemiBold</vt:lpstr>
      <vt:lpstr>Focus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teresa rivera</cp:lastModifiedBy>
  <cp:revision>3</cp:revision>
  <dcterms:modified xsi:type="dcterms:W3CDTF">2026-07-26T15:36:49Z</dcterms:modified>
</cp:coreProperties>
</file>